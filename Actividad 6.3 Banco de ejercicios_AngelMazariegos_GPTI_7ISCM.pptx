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43" r:id="rId1"/>
  </p:sldMasterIdLst>
  <p:sldIdLst>
    <p:sldId id="256" r:id="rId2"/>
    <p:sldId id="257" r:id="rId3"/>
    <p:sldId id="290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266" r:id="rId16"/>
    <p:sldId id="309" r:id="rId17"/>
    <p:sldId id="33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73" d="100"/>
          <a:sy n="73" d="100"/>
        </p:scale>
        <p:origin x="4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51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43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8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16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398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95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049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09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496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71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309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5467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497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985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433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37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268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74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6685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  <p:sldLayoutId id="2147483957" r:id="rId14"/>
    <p:sldLayoutId id="2147483958" r:id="rId15"/>
    <p:sldLayoutId id="2147483959" r:id="rId16"/>
    <p:sldLayoutId id="2147483960" r:id="rId17"/>
    <p:sldLayoutId id="2147483961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oogle/xMQLiaLYgeTePoKbQ" TargetMode="External"/><Relationship Id="rId2" Type="http://schemas.openxmlformats.org/officeDocument/2006/relationships/hyperlink" Target="https://es.scribd.com/document/451591974/EVALUACION-FINAL-Y-CIERRE-DEL-PROYECTO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share.google/UpLAHguKbUmQ1t7Rj" TargetMode="External"/><Relationship Id="rId5" Type="http://schemas.openxmlformats.org/officeDocument/2006/relationships/hyperlink" Target="https://share.google/yuOYzucF6sngypEqR" TargetMode="External"/><Relationship Id="rId4" Type="http://schemas.openxmlformats.org/officeDocument/2006/relationships/hyperlink" Target="https://share.google/YpgqCzpfjteQPsXoA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gel-ortiz144/GPTI--Tema-4.git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13722" y="1834632"/>
            <a:ext cx="10743834" cy="1027386"/>
          </a:xfrm>
        </p:spPr>
        <p:txBody>
          <a:bodyPr>
            <a:normAutofit fontScale="90000"/>
          </a:bodyPr>
          <a:lstStyle/>
          <a:p>
            <a:pPr algn="ctr"/>
            <a:r>
              <a:rPr lang="es-MX" sz="3600" b="1" dirty="0"/>
              <a:t>Instituto tecnológico de nacional de México </a:t>
            </a:r>
            <a:br>
              <a:rPr lang="es-MX" sz="3600" b="1" dirty="0"/>
            </a:br>
            <a:r>
              <a:rPr lang="es-MX" sz="2000" b="1" dirty="0"/>
              <a:t>(instituto tecnológico de frontera Comalapa) </a:t>
            </a:r>
            <a:endParaRPr lang="es-MX" sz="3600" b="1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488" y="128946"/>
            <a:ext cx="3610303" cy="148252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063" y="-68067"/>
            <a:ext cx="3941380" cy="1876551"/>
          </a:xfrm>
          <a:prstGeom prst="rect">
            <a:avLst/>
          </a:prstGeom>
        </p:spPr>
      </p:pic>
      <p:sp>
        <p:nvSpPr>
          <p:cNvPr id="8" name="Título 1"/>
          <p:cNvSpPr txBox="1">
            <a:spLocks/>
          </p:cNvSpPr>
          <p:nvPr/>
        </p:nvSpPr>
        <p:spPr>
          <a:xfrm>
            <a:off x="820324" y="2862018"/>
            <a:ext cx="10330629" cy="427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MX" sz="2900" b="1" dirty="0"/>
              <a:t>Presentación</a:t>
            </a:r>
          </a:p>
          <a:p>
            <a:endParaRPr lang="es-MX" sz="2900" b="1" dirty="0"/>
          </a:p>
          <a:p>
            <a:r>
              <a:rPr lang="es-MX" sz="2000" b="1" dirty="0"/>
              <a:t>Nombre del estudiante: </a:t>
            </a:r>
          </a:p>
          <a:p>
            <a:r>
              <a:rPr lang="es-MX" sz="2000" cap="none" dirty="0" err="1"/>
              <a:t>Angel</a:t>
            </a:r>
            <a:r>
              <a:rPr lang="es-MX" sz="2000" cap="none" dirty="0"/>
              <a:t> De </a:t>
            </a:r>
            <a:r>
              <a:rPr lang="es-MX" sz="2000" cap="none" dirty="0" err="1"/>
              <a:t>Jesus</a:t>
            </a:r>
            <a:r>
              <a:rPr lang="es-MX" sz="2000" cap="none" dirty="0"/>
              <a:t> Mazariegos Ortiz</a:t>
            </a:r>
          </a:p>
          <a:p>
            <a:endParaRPr lang="es-MX" sz="2000" cap="none" dirty="0"/>
          </a:p>
          <a:p>
            <a:r>
              <a:rPr lang="es-MX" sz="2000" b="1" dirty="0"/>
              <a:t>no. Control:</a:t>
            </a:r>
          </a:p>
          <a:p>
            <a:r>
              <a:rPr lang="es-MX" sz="2000" dirty="0"/>
              <a:t>231260003</a:t>
            </a:r>
          </a:p>
          <a:p>
            <a:endParaRPr lang="es-MX" sz="2000" dirty="0"/>
          </a:p>
          <a:p>
            <a:r>
              <a:rPr lang="es-MX" sz="2000" b="1" cap="none" dirty="0"/>
              <a:t>MATERIA:</a:t>
            </a:r>
          </a:p>
          <a:p>
            <a:r>
              <a:rPr lang="es-US" sz="2000" cap="none" dirty="0"/>
              <a:t>Gestión de Proyectos de TI</a:t>
            </a:r>
            <a:endParaRPr lang="es-MX" sz="2000" cap="none" dirty="0"/>
          </a:p>
          <a:p>
            <a:endParaRPr lang="es-MX" sz="2000" dirty="0"/>
          </a:p>
          <a:p>
            <a:r>
              <a:rPr lang="es-MX" sz="2000" b="1" dirty="0"/>
              <a:t>Nombre del docente:</a:t>
            </a:r>
          </a:p>
          <a:p>
            <a:r>
              <a:rPr lang="es-MX" sz="2000" cap="none" dirty="0"/>
              <a:t>Francisco Javier Velázquez Mingo</a:t>
            </a:r>
          </a:p>
          <a:p>
            <a:endParaRPr lang="es-MX" sz="2000" dirty="0"/>
          </a:p>
          <a:p>
            <a:r>
              <a:rPr lang="es-MX" sz="2000" b="1" dirty="0"/>
              <a:t>Semestre:</a:t>
            </a:r>
            <a:endParaRPr lang="es-MX" sz="2000" b="1" cap="none" dirty="0"/>
          </a:p>
          <a:p>
            <a:r>
              <a:rPr lang="es-US" sz="2000" cap="none" dirty="0"/>
              <a:t>Séptimo </a:t>
            </a:r>
            <a:r>
              <a:rPr lang="es-MX" sz="2000" cap="none" dirty="0"/>
              <a:t>Semestre </a:t>
            </a:r>
          </a:p>
          <a:p>
            <a:endParaRPr lang="es-MX" sz="2000" dirty="0"/>
          </a:p>
          <a:p>
            <a:r>
              <a:rPr lang="es-MX" sz="2000" b="1" dirty="0"/>
              <a:t>Fecha:</a:t>
            </a:r>
          </a:p>
          <a:p>
            <a:r>
              <a:rPr lang="es-US" sz="2000" dirty="0" smtClean="0"/>
              <a:t>04</a:t>
            </a:r>
            <a:r>
              <a:rPr lang="es-US" sz="2000" dirty="0" smtClean="0"/>
              <a:t>/10/2026</a:t>
            </a:r>
            <a:endParaRPr lang="es-MX" sz="2000" dirty="0"/>
          </a:p>
          <a:p>
            <a:endParaRPr lang="es-MX" sz="2100" dirty="0"/>
          </a:p>
          <a:p>
            <a:r>
              <a:rPr lang="es-MX" sz="3600" dirty="0"/>
              <a:t> </a:t>
            </a:r>
            <a:r>
              <a:rPr lang="es-MX" sz="3600" b="1" dirty="0"/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FA55246-EC8D-4FB4-B724-80EC97353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685" y="0"/>
            <a:ext cx="3116315" cy="18288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CA0DCF5-F42E-4506-A461-330A6B5758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t="74026"/>
          <a:stretch/>
        </p:blipFill>
        <p:spPr>
          <a:xfrm>
            <a:off x="8313685" y="1356696"/>
            <a:ext cx="3116315" cy="47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0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76358" y="-341320"/>
            <a:ext cx="10364451" cy="1596177"/>
          </a:xfrm>
        </p:spPr>
        <p:txBody>
          <a:bodyPr/>
          <a:lstStyle/>
          <a:p>
            <a:pPr algn="ctr"/>
            <a:r>
              <a:rPr lang="es-MX" b="1" dirty="0"/>
              <a:t>Introducción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3"/>
          </p:nvPr>
        </p:nvSpPr>
        <p:spPr>
          <a:xfrm>
            <a:off x="776358" y="908494"/>
            <a:ext cx="10977952" cy="55176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US" dirty="0"/>
              <a:t>El presente documento recopila la evaluación integral y el cierre formal de un portafolio de proyectos de Tecnologías de la Información desarrollado durante el ciclo 2026. A través de cuatro módulos clave (preguntas conceptuales sobre marcos de trabajo como PMBOK, análisis de casos prácticos, matriz de lecciones aprendidas y redacción de actas finales), se abordan los aspectos críticos de la gestión de proyectos informáticos. Entre ellos destacan el control de cambios, la evaluación técnica mediante indicadores clave de rendimiento (</a:t>
            </a:r>
            <a:r>
              <a:rPr lang="es-US" dirty="0" err="1"/>
              <a:t>KPIs</a:t>
            </a:r>
            <a:r>
              <a:rPr lang="es-US" dirty="0"/>
              <a:t>), la mitigación de riesgos y el cumplimiento normativo en sistemas de gran impacto como OAS, LOGIX-TRACE y SIGHECD.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3229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6DCB7-4A5B-B10C-1BC9-2108E5E4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233669"/>
            <a:ext cx="10353761" cy="1326321"/>
          </a:xfrm>
        </p:spPr>
        <p:txBody>
          <a:bodyPr/>
          <a:lstStyle/>
          <a:p>
            <a:r>
              <a:rPr lang="es-US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72E3CF-E2AD-28F8-DF10-5DF1E7BEF7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961" y="666527"/>
            <a:ext cx="11242076" cy="6269628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US" dirty="0"/>
              <a:t>​​La implementación rigurosa de metodologías de evaluación y resolución de riesgos es fundamental para la dirección de proyectos por las siguientes razones: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Priorización eficiente de recursos: </a:t>
            </a:r>
            <a:r>
              <a:rPr lang="es-US" dirty="0"/>
              <a:t>Permite identificar y catalogar de forma objetiva las amenazas de mayor severidad (como fallas por concurrencia masiva en OAS), asegurando que la inversión y el esfuerzo técnico se dirijan inmediatamente a los eventos críticos.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Toma de decisiones financieras fundamentadas: </a:t>
            </a:r>
            <a:r>
              <a:rPr lang="es-US" dirty="0"/>
              <a:t>Mediante el análisis de Valor Monetario Esperado (VME) aplicado en SIGHECD, se demuestra cómo una inversión preventiva (por ejemplo, auditorías externas) resulta financieramente conveniente al reducir la exposición económica a posibles penalizaciones y retrasos.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Continuidad operativa y de negocio: </a:t>
            </a:r>
            <a:r>
              <a:rPr lang="es-US" dirty="0"/>
              <a:t>La selección adecuada de estrategias en LOGIX-TRACE (como la mitigación con caché local, la transferencia a proveedores </a:t>
            </a:r>
            <a:r>
              <a:rPr lang="es-US" dirty="0" err="1"/>
              <a:t>cloud</a:t>
            </a:r>
            <a:r>
              <a:rPr lang="es-US" dirty="0"/>
              <a:t> o la implementación de modos offline) garantiza la resiliencia del sistema ante imprevistos técnicos, fallas de infraestructura o eventos emergentes.  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Gestión del factor humano y adopción: </a:t>
            </a:r>
            <a:r>
              <a:rPr lang="es-US" dirty="0"/>
              <a:t>Reconoce que los riesgos no son únicamente técnicos, sino también operativos y culturales, estructurando planes de capacitación y soporte para asegurar una transición fluida a nuevas tecnologías sin afectar la calidad del servicio.</a:t>
            </a:r>
          </a:p>
        </p:txBody>
      </p:sp>
    </p:spTree>
    <p:extLst>
      <p:ext uri="{BB962C8B-B14F-4D97-AF65-F5344CB8AC3E}">
        <p14:creationId xmlns:p14="http://schemas.microsoft.com/office/powerpoint/2010/main" val="679947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BEE9E-51F6-21CA-B9FC-2C77FC3E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332" y="117566"/>
            <a:ext cx="11003280" cy="1326321"/>
          </a:xfrm>
        </p:spPr>
        <p:txBody>
          <a:bodyPr/>
          <a:lstStyle/>
          <a:p>
            <a:r>
              <a:rPr lang="es-US" dirty="0"/>
              <a:t>MÓDULO 1: PREGUNTAS DE OPCIÓN MÚLTIPLE (TEORÍA Y CONCEPTOS)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1C9E3D-DAB3-634B-B337-847DC43CB1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3709" y="1554196"/>
            <a:ext cx="10363826" cy="4601129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s-US" b="1" dirty="0">
                <a:solidFill>
                  <a:srgbClr val="00B0F0"/>
                </a:solidFill>
              </a:rPr>
              <a:t>¿Cuál es la finalidad principal del proceso de Evaluación y Cierre en el ciclo de vida de un proyecto de TI según el marco PMBOK? </a:t>
            </a:r>
          </a:p>
          <a:p>
            <a:pPr marL="457200" indent="-457200">
              <a:buAutoNum type="alphaLcParenR"/>
            </a:pPr>
            <a:r>
              <a:rPr lang="es-US" dirty="0"/>
              <a:t>Diseñar la arquitectura de software y los diagramas Entidad-Relación.</a:t>
            </a:r>
          </a:p>
          <a:p>
            <a:pPr marL="457200" indent="-457200" algn="just">
              <a:buAutoNum type="alphaLcParenR"/>
            </a:pPr>
            <a:r>
              <a:rPr lang="es-US" dirty="0"/>
              <a:t>Transferir formalmente los entregables, liberar recursos, documentar lecciones aprendidas y obtener la firma del cliente (</a:t>
            </a:r>
            <a:r>
              <a:rPr lang="es-US" dirty="0" err="1"/>
              <a:t>Sign</a:t>
            </a:r>
            <a:r>
              <a:rPr lang="es-US" dirty="0"/>
              <a:t>-off).</a:t>
            </a:r>
          </a:p>
          <a:p>
            <a:pPr marL="457200" indent="-457200" algn="just">
              <a:buAutoNum type="alphaLcParenR"/>
            </a:pPr>
            <a:r>
              <a:rPr lang="es-US" dirty="0"/>
              <a:t>C) Realizar la asignación inicial de actividades en Jira y construir la WBS.</a:t>
            </a:r>
          </a:p>
          <a:p>
            <a:pPr marL="457200" indent="-457200" algn="just">
              <a:buAutoNum type="alphaLcParenR"/>
            </a:pPr>
            <a:r>
              <a:rPr lang="es-US" dirty="0"/>
              <a:t>D) Definir el presupuesto inicial de las </a:t>
            </a:r>
            <a:r>
              <a:rPr lang="es-US" dirty="0" err="1"/>
              <a:t>APIs</a:t>
            </a:r>
            <a:r>
              <a:rPr lang="es-US" dirty="0"/>
              <a:t> de mapas y servicios de nube.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Respuesta correcta: b</a:t>
            </a:r>
          </a:p>
        </p:txBody>
      </p:sp>
    </p:spTree>
    <p:extLst>
      <p:ext uri="{BB962C8B-B14F-4D97-AF65-F5344CB8AC3E}">
        <p14:creationId xmlns:p14="http://schemas.microsoft.com/office/powerpoint/2010/main" val="4112618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4B19B5-1861-598F-6E95-27C78A1B85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73634" y="1172307"/>
            <a:ext cx="10363826" cy="3899521"/>
          </a:xfrm>
        </p:spPr>
        <p:txBody>
          <a:bodyPr/>
          <a:lstStyle/>
          <a:p>
            <a:pPr marL="457200" indent="-457200" algn="just">
              <a:buAutoNum type="arabicPeriod" startAt="2"/>
            </a:pPr>
            <a:r>
              <a:rPr lang="es-US" b="1" dirty="0">
                <a:solidFill>
                  <a:srgbClr val="00B0F0"/>
                </a:solidFill>
              </a:rPr>
              <a:t>En el proyecto OAS, ¿cuál de los siguientes fue un KPI clave utilizado para certificar el éxito del rendimiento del sistema en la fase de evaluación? </a:t>
            </a:r>
          </a:p>
          <a:p>
            <a:pPr marL="457200" indent="-457200">
              <a:buAutoNum type="alphaLcParenR"/>
            </a:pPr>
            <a:r>
              <a:rPr lang="es-US" dirty="0"/>
              <a:t>Implementación de autenticación biométrica por cámara web. </a:t>
            </a:r>
          </a:p>
          <a:p>
            <a:pPr marL="457200" indent="-457200">
              <a:buAutoNum type="alphaLcParenR"/>
            </a:pPr>
            <a:r>
              <a:rPr lang="es-US" dirty="0"/>
              <a:t>B) Soporte de concurrencia simultánea de al menos 1,000 estudiantes con latencia menor a 2 segundos.</a:t>
            </a:r>
          </a:p>
          <a:p>
            <a:pPr marL="457200" indent="-457200">
              <a:buAutoNum type="alphaLcParenR"/>
            </a:pPr>
            <a:r>
              <a:rPr lang="es-US" dirty="0"/>
              <a:t>C) Desarrollo de aplicaciones nativas móviles para iOS y Android.   </a:t>
            </a:r>
          </a:p>
          <a:p>
            <a:pPr marL="457200" indent="-457200">
              <a:buAutoNum type="alphaLcParenR"/>
            </a:pPr>
            <a:r>
              <a:rPr lang="es-US" dirty="0"/>
              <a:t>D) Reducción del presupuesto inicial en un 50%.   </a:t>
            </a:r>
          </a:p>
          <a:p>
            <a:pPr marL="0" indent="0">
              <a:buNone/>
            </a:pPr>
            <a:r>
              <a:rPr lang="es-US" b="1" dirty="0">
                <a:solidFill>
                  <a:srgbClr val="FF0000"/>
                </a:solidFill>
              </a:rPr>
              <a:t>Respuesta correcta: b</a:t>
            </a:r>
          </a:p>
        </p:txBody>
      </p:sp>
    </p:spTree>
    <p:extLst>
      <p:ext uri="{BB962C8B-B14F-4D97-AF65-F5344CB8AC3E}">
        <p14:creationId xmlns:p14="http://schemas.microsoft.com/office/powerpoint/2010/main" val="1711699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2442D2-FDBF-5344-2EFA-441537B3BE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252238"/>
            <a:ext cx="10363826" cy="4538961"/>
          </a:xfrm>
        </p:spPr>
        <p:txBody>
          <a:bodyPr/>
          <a:lstStyle/>
          <a:p>
            <a:pPr marL="457200" indent="-457200" algn="just">
              <a:buAutoNum type="arabicPeriod" startAt="3"/>
            </a:pPr>
            <a:r>
              <a:rPr lang="es-US" b="1" dirty="0">
                <a:solidFill>
                  <a:srgbClr val="00B0F0"/>
                </a:solidFill>
              </a:rPr>
              <a:t>¿Qué acción debe realizar el Gerente de Proyecto (PM) cuando un requerimiento solicitado durante la ejecución está catalogado como “Fuera del Alcance” en la ficha FLIP firmada?</a:t>
            </a:r>
          </a:p>
          <a:p>
            <a:pPr marL="457200" indent="-457200">
              <a:buAutoNum type="alphaLcParenR"/>
            </a:pPr>
            <a:r>
              <a:rPr lang="es-US" dirty="0"/>
              <a:t>Desarrollarlo de inmediato sin notificar al patrocinador.</a:t>
            </a:r>
          </a:p>
          <a:p>
            <a:pPr marL="457200" indent="-457200">
              <a:buAutoNum type="alphaLcParenR"/>
            </a:pPr>
            <a:r>
              <a:rPr lang="es-US" dirty="0"/>
              <a:t>B) Modificar el código sin pruebas de rendimiento.</a:t>
            </a:r>
          </a:p>
          <a:p>
            <a:pPr marL="457200" indent="-457200">
              <a:buAutoNum type="alphaLcParenR"/>
            </a:pPr>
            <a:r>
              <a:rPr lang="es-US" dirty="0"/>
              <a:t>C) Someter la solicitud al Comité de Control de Cambios (CCB) para evaluar su impacto y, si compromete el tiempo/costo, registrarlo como “Diferido para V2.0”.</a:t>
            </a:r>
          </a:p>
          <a:p>
            <a:pPr marL="457200" indent="-457200">
              <a:buAutoNum type="alphaLcParenR"/>
            </a:pPr>
            <a:r>
              <a:rPr lang="es-US" dirty="0"/>
              <a:t>D) Cancelar el proyecto de manera definitiva.</a:t>
            </a:r>
          </a:p>
          <a:p>
            <a:pPr marL="0" indent="0">
              <a:buNone/>
            </a:pPr>
            <a:r>
              <a:rPr lang="es-US" b="1" dirty="0">
                <a:solidFill>
                  <a:srgbClr val="FF0000"/>
                </a:solidFill>
              </a:rPr>
              <a:t>Respuesta correcta: c</a:t>
            </a:r>
          </a:p>
        </p:txBody>
      </p:sp>
    </p:spTree>
    <p:extLst>
      <p:ext uri="{BB962C8B-B14F-4D97-AF65-F5344CB8AC3E}">
        <p14:creationId xmlns:p14="http://schemas.microsoft.com/office/powerpoint/2010/main" val="175221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EF0FED-5F20-CA67-E159-2609FE5410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346023"/>
            <a:ext cx="10363826" cy="4165954"/>
          </a:xfrm>
        </p:spPr>
        <p:txBody>
          <a:bodyPr/>
          <a:lstStyle/>
          <a:p>
            <a:pPr marL="457200" indent="-457200" algn="just">
              <a:buAutoNum type="arabicPeriod" startAt="4"/>
            </a:pPr>
            <a:r>
              <a:rPr lang="es-US" b="1" dirty="0">
                <a:solidFill>
                  <a:srgbClr val="00B0F0"/>
                </a:solidFill>
              </a:rPr>
              <a:t>¿Cuál es el beneficio de registrar formalmente las lecciones aprendidas al finalizar un proyecto informático?</a:t>
            </a:r>
          </a:p>
          <a:p>
            <a:pPr marL="457200" indent="-457200">
              <a:buAutoNum type="alphaLcParenR"/>
            </a:pPr>
            <a:r>
              <a:rPr lang="es-US" dirty="0"/>
              <a:t>Reasignar el presupuesto no utilizado a otros departamentos.</a:t>
            </a:r>
          </a:p>
          <a:p>
            <a:pPr marL="457200" indent="-457200" algn="just">
              <a:buAutoNum type="alphaLcParenR"/>
            </a:pPr>
            <a:r>
              <a:rPr lang="es-US" dirty="0"/>
              <a:t>Enriquecer los activos de procesos de la organización (OPA) para prevenir la repetición de errores y estandarizar buenas prácticas en futuros desarrollos.</a:t>
            </a:r>
          </a:p>
          <a:p>
            <a:pPr marL="457200" indent="-457200" algn="just">
              <a:buAutoNum type="alphaLcParenR"/>
            </a:pPr>
            <a:r>
              <a:rPr lang="es-US" dirty="0"/>
              <a:t>Eliminar la necesidad de realizar pruebas de penetración (</a:t>
            </a:r>
            <a:r>
              <a:rPr lang="es-US" dirty="0" err="1"/>
              <a:t>PenTesting</a:t>
            </a:r>
            <a:r>
              <a:rPr lang="es-US" dirty="0"/>
              <a:t>).</a:t>
            </a:r>
          </a:p>
          <a:p>
            <a:pPr marL="457200" indent="-457200" algn="just">
              <a:buAutoNum type="alphaLcParenR"/>
            </a:pPr>
            <a:r>
              <a:rPr lang="es-US" dirty="0"/>
              <a:t>Modificar la licencia de uso del software entregado.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Respuesta correcta: b</a:t>
            </a:r>
          </a:p>
        </p:txBody>
      </p:sp>
    </p:spTree>
    <p:extLst>
      <p:ext uri="{BB962C8B-B14F-4D97-AF65-F5344CB8AC3E}">
        <p14:creationId xmlns:p14="http://schemas.microsoft.com/office/powerpoint/2010/main" val="4171679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B48E33-87EB-C861-2C26-D9D3E77452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230568"/>
            <a:ext cx="10363826" cy="4396863"/>
          </a:xfrm>
        </p:spPr>
        <p:txBody>
          <a:bodyPr/>
          <a:lstStyle/>
          <a:p>
            <a:pPr marL="457200" indent="-457200" algn="just">
              <a:buAutoNum type="arabicPeriod" startAt="5"/>
            </a:pPr>
            <a:r>
              <a:rPr lang="es-US" b="1" dirty="0">
                <a:solidFill>
                  <a:srgbClr val="00B0F0"/>
                </a:solidFill>
              </a:rPr>
              <a:t>¿Qué documento representa el acuerdo legal y administrativo mediante el cual el Patrocinador (Sponsor) declara recibido a satisfacción el sistema informático y se liberan los recursos del equipo?</a:t>
            </a:r>
          </a:p>
          <a:p>
            <a:pPr marL="457200" indent="-457200">
              <a:buAutoNum type="alphaLcParenR"/>
            </a:pPr>
            <a:r>
              <a:rPr lang="es-US" dirty="0"/>
              <a:t>Documento de Especificación de Requisitos (SRS).</a:t>
            </a:r>
          </a:p>
          <a:p>
            <a:pPr marL="457200" indent="-457200">
              <a:buAutoNum type="alphaLcParenR"/>
            </a:pPr>
            <a:r>
              <a:rPr lang="es-US" dirty="0"/>
              <a:t>B) Formato de Levantamiento Inicial de Proyecto (FLIP)</a:t>
            </a:r>
          </a:p>
          <a:p>
            <a:pPr marL="457200" indent="-457200">
              <a:buAutoNum type="alphaLcParenR"/>
            </a:pPr>
            <a:r>
              <a:rPr lang="es-US" dirty="0"/>
              <a:t>C) Acta de Cierre y Aceptación Final de Proyecto (</a:t>
            </a:r>
            <a:r>
              <a:rPr lang="es-US" dirty="0" err="1"/>
              <a:t>Sign</a:t>
            </a:r>
            <a:r>
              <a:rPr lang="es-US" dirty="0"/>
              <a:t>-off).</a:t>
            </a:r>
          </a:p>
          <a:p>
            <a:pPr marL="457200" indent="-457200">
              <a:buAutoNum type="alphaLcParenR"/>
            </a:pPr>
            <a:r>
              <a:rPr lang="es-US" dirty="0"/>
              <a:t>Registro de </a:t>
            </a:r>
            <a:r>
              <a:rPr lang="es-US" dirty="0" err="1"/>
              <a:t>Commits</a:t>
            </a:r>
            <a:r>
              <a:rPr lang="es-US" dirty="0"/>
              <a:t> en el repositorio de </a:t>
            </a:r>
            <a:r>
              <a:rPr lang="es-US" dirty="0" err="1"/>
              <a:t>Git</a:t>
            </a:r>
            <a:r>
              <a:rPr lang="es-US" dirty="0"/>
              <a:t>.</a:t>
            </a:r>
          </a:p>
          <a:p>
            <a:pPr marL="0" indent="0">
              <a:buNone/>
            </a:pPr>
            <a:r>
              <a:rPr lang="es-US" b="1" dirty="0">
                <a:solidFill>
                  <a:srgbClr val="FF0000"/>
                </a:solidFill>
              </a:rPr>
              <a:t>Respuesta correcta: c</a:t>
            </a:r>
          </a:p>
        </p:txBody>
      </p:sp>
    </p:spTree>
    <p:extLst>
      <p:ext uri="{BB962C8B-B14F-4D97-AF65-F5344CB8AC3E}">
        <p14:creationId xmlns:p14="http://schemas.microsoft.com/office/powerpoint/2010/main" val="1369199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07D1F-4CC2-B856-8B2B-47990423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0"/>
            <a:ext cx="10353761" cy="1326321"/>
          </a:xfrm>
        </p:spPr>
        <p:txBody>
          <a:bodyPr/>
          <a:lstStyle/>
          <a:p>
            <a:r>
              <a:rPr lang="es-US" dirty="0"/>
              <a:t>MÓDULO 2: CASOS PRÁCTICOS DE ANÁLISIS Y DICTAMEN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B2F665-3C1D-1FD5-4975-0DA8D7E07A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3709" y="1141497"/>
            <a:ext cx="10363826" cy="57165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US" b="1" dirty="0">
                <a:solidFill>
                  <a:srgbClr val="00B0F0"/>
                </a:solidFill>
              </a:rPr>
              <a:t>Caso Práctico 1: </a:t>
            </a:r>
            <a:r>
              <a:rPr lang="es-US" dirty="0"/>
              <a:t>Evaluación de Indicadores de Éxito del Proyecto OAS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Contexto: </a:t>
            </a:r>
            <a:r>
              <a:rPr lang="es-US" dirty="0"/>
              <a:t>Durante las pruebas de carga finales del proyecto OAS (PRJ-OAS-2026-01), el equipo de QA utilizó </a:t>
            </a:r>
            <a:r>
              <a:rPr lang="es-US" dirty="0" err="1"/>
              <a:t>Jmeter</a:t>
            </a:r>
            <a:r>
              <a:rPr lang="es-US" dirty="0"/>
              <a:t> para simular la concurrencia de estudiantes y la automatización del proceso de revisión.</a:t>
            </a:r>
          </a:p>
          <a:p>
            <a:pPr marL="0" indent="0" algn="just">
              <a:buNone/>
            </a:pPr>
            <a:r>
              <a:rPr lang="es-US" b="1" dirty="0"/>
              <a:t>Datos recopilados en pruebas: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Concurrencia alcanzada: </a:t>
            </a:r>
            <a:r>
              <a:rPr lang="es-US" dirty="0"/>
              <a:t>1,000 estudiantes simultáneos.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Tiempo de respuesta y latencia promedio: </a:t>
            </a:r>
            <a:r>
              <a:rPr lang="es-US" dirty="0"/>
              <a:t>1.8 segundos}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Tiempo medio de publicación de resultados: </a:t>
            </a:r>
            <a:r>
              <a:rPr lang="es-US" dirty="0"/>
              <a:t>Reducción del 82% en comparación con la revisión manual. 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Disponibilidad durante las 48 horas de prueba piloto: </a:t>
            </a:r>
            <a:r>
              <a:rPr lang="es-US" dirty="0"/>
              <a:t>99.7%.  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Instrucción:</a:t>
            </a:r>
          </a:p>
          <a:p>
            <a:pPr algn="just"/>
            <a:r>
              <a:rPr lang="es-US" dirty="0"/>
              <a:t>Compare los resultados obtenidos contra las metas programadas en la Ficha FLIP.</a:t>
            </a:r>
          </a:p>
          <a:p>
            <a:pPr algn="just"/>
            <a:r>
              <a:rPr lang="es-US" dirty="0"/>
              <a:t>Emita el dictamen de aprobación o rechazo del entregable.</a:t>
            </a:r>
          </a:p>
          <a:p>
            <a:pPr marL="0" indent="0">
              <a:buNone/>
            </a:pP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156861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BAF91-B2EC-FB1D-B811-26065FEBF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Solución 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DC1302-C9FC-3BB9-5FC3-69C624E022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4444" y="1935921"/>
            <a:ext cx="10363826" cy="342410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US" b="1" dirty="0"/>
              <a:t>Cuadro Comparativo de </a:t>
            </a:r>
            <a:r>
              <a:rPr lang="es-US" b="1" dirty="0" err="1"/>
              <a:t>KPIs</a:t>
            </a:r>
            <a:r>
              <a:rPr lang="es-US" b="1" dirty="0"/>
              <a:t>: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Concurrencia y Latencia: </a:t>
            </a:r>
            <a:r>
              <a:rPr lang="es-US" dirty="0"/>
              <a:t>Meta FLIP ≥ 1, 000 usuarios (&lt; 2.0s) vs. Obtenido 1,000 usuarios (1.8s) → CUMPLE.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Automatización: </a:t>
            </a:r>
            <a:r>
              <a:rPr lang="es-US" dirty="0"/>
              <a:t>Meta FLIP Reducción 80% vs. Obtenido 82% → CUMPLE /EXCEDE.</a:t>
            </a:r>
          </a:p>
          <a:p>
            <a:pPr algn="just"/>
            <a:r>
              <a:rPr lang="es-US" b="1" dirty="0" err="1">
                <a:solidFill>
                  <a:srgbClr val="FF0000"/>
                </a:solidFill>
              </a:rPr>
              <a:t>Uptime</a:t>
            </a:r>
            <a:r>
              <a:rPr lang="es-US" b="1" dirty="0">
                <a:solidFill>
                  <a:srgbClr val="FF0000"/>
                </a:solidFill>
              </a:rPr>
              <a:t>: </a:t>
            </a:r>
            <a:r>
              <a:rPr lang="es-US" dirty="0"/>
              <a:t>Meta FLIP 99.5% vs. Obtenido 99.7% → CUMPLE.</a:t>
            </a:r>
          </a:p>
          <a:p>
            <a:pPr marL="457200" indent="-457200" algn="just">
              <a:buAutoNum type="arabicPeriod" startAt="2"/>
            </a:pPr>
            <a:r>
              <a:rPr lang="es-US" b="1" dirty="0"/>
              <a:t>Dictamen: </a:t>
            </a:r>
            <a:r>
              <a:rPr lang="es-US" dirty="0"/>
              <a:t>APROBADO. El sistema cumple cuantitativamente con los criterios de aceptación técnica y operativa establecidos en la línea base.</a:t>
            </a:r>
          </a:p>
          <a:p>
            <a:pPr marL="457200" indent="-457200" algn="just">
              <a:buAutoNum type="arabicPeriod" startAt="2"/>
            </a:pP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49809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FB9F72-AE99-B8D5-2F95-13A667BFC2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3078" y="191217"/>
            <a:ext cx="11625384" cy="666678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US" b="1" dirty="0">
                <a:solidFill>
                  <a:srgbClr val="00B0F0"/>
                </a:solidFill>
              </a:rPr>
              <a:t>Caso Práctico 2: </a:t>
            </a:r>
            <a:r>
              <a:rPr lang="es-US" dirty="0"/>
              <a:t>Evaluación de Cambios y Restricciones en LOGIX-TRACE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Contexto: </a:t>
            </a:r>
            <a:r>
              <a:rPr lang="es-US" dirty="0"/>
              <a:t>En la semana 5 de ejecución del proyecto LOGIX-TRACE (PRJ-LOGIX-2026-01), el Director de Operaciones solicita incorporar la integración de sensores térmicos </a:t>
            </a:r>
            <a:r>
              <a:rPr lang="es-US" dirty="0" err="1"/>
              <a:t>IoT</a:t>
            </a:r>
            <a:r>
              <a:rPr lang="es-US" dirty="0"/>
              <a:t> para el monitoreo de carga refrigerada en tiempo real. El proyecto tiene un tiempo de entrega inamovible de 10 semanas y una cuota fija asignada para </a:t>
            </a:r>
            <a:r>
              <a:rPr lang="es-US" dirty="0" err="1"/>
              <a:t>APIs</a:t>
            </a:r>
            <a:r>
              <a:rPr lang="es-US" dirty="0"/>
              <a:t> de terceros.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FF0000"/>
                </a:solidFill>
              </a:rPr>
              <a:t>Instrucción: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US" dirty="0"/>
              <a:t>Analice el impacto en las restricciones (Tiempo, Costo, Alcance).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US" dirty="0"/>
              <a:t>Redacte el dictamen del Comité de Control de Cambios (CCB).</a:t>
            </a:r>
          </a:p>
          <a:p>
            <a:pPr marL="0" indent="0" algn="just">
              <a:buNone/>
            </a:pPr>
            <a:r>
              <a:rPr lang="es-US" b="1" dirty="0">
                <a:solidFill>
                  <a:srgbClr val="00B050"/>
                </a:solidFill>
              </a:rPr>
              <a:t>Solución Ejercicio 2:</a:t>
            </a:r>
          </a:p>
          <a:p>
            <a:pPr marL="0" indent="0" algn="just">
              <a:buNone/>
            </a:pPr>
            <a:r>
              <a:rPr lang="es-US" dirty="0"/>
              <a:t>1.  </a:t>
            </a:r>
            <a:r>
              <a:rPr lang="es-US" b="1" dirty="0"/>
              <a:t>Análisis de Impacto: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Tiempo: </a:t>
            </a:r>
            <a:r>
              <a:rPr lang="es-US" dirty="0"/>
              <a:t>El desarrollo de los controladores para hardware </a:t>
            </a:r>
            <a:r>
              <a:rPr lang="es-US" dirty="0" err="1"/>
              <a:t>IoT</a:t>
            </a:r>
            <a:r>
              <a:rPr lang="es-US" dirty="0"/>
              <a:t> aumentaría la duración total de 10 a 12 semanas, violando la restricción crítica de entrega inamovible.  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Costo: </a:t>
            </a:r>
            <a:r>
              <a:rPr lang="es-US" dirty="0"/>
              <a:t>Incrementaría un 18% el presupuesto debido al consumo de ancho de banda y licenciamiento adicional. 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Alcance: </a:t>
            </a:r>
            <a:r>
              <a:rPr lang="es-US" dirty="0"/>
              <a:t>Modifica la línea base introduciendo una funcionalidad explícitamente marcada como Fuera del Alcance (Fase 2) en la Ficha FLIP firmada.</a:t>
            </a:r>
          </a:p>
          <a:p>
            <a:pPr marL="457200" indent="-457200" algn="just">
              <a:buAutoNum type="arabicPeriod" startAt="2"/>
            </a:pPr>
            <a:r>
              <a:rPr lang="es-US" b="1" dirty="0" smtClean="0"/>
              <a:t>Dictamen </a:t>
            </a:r>
            <a:r>
              <a:rPr lang="es-US" b="1" dirty="0"/>
              <a:t>del CCB: </a:t>
            </a:r>
            <a:r>
              <a:rPr lang="es-US" dirty="0"/>
              <a:t>RECHAZADO / DIFERIDO PARA FASE 2. La solicitud compromete la fecha de lanzamiento operativa. El PM registrará la tarjeta con estado “Diferido para V2.0” en la Bitácora de Cambios y en el </a:t>
            </a:r>
            <a:r>
              <a:rPr lang="es-US" dirty="0" err="1"/>
              <a:t>Product</a:t>
            </a:r>
            <a:r>
              <a:rPr lang="es-US" dirty="0"/>
              <a:t> </a:t>
            </a:r>
            <a:r>
              <a:rPr lang="es-US" dirty="0" err="1"/>
              <a:t>Backlog</a:t>
            </a:r>
            <a:r>
              <a:rPr lang="es-US" dirty="0"/>
              <a:t> futuro de Jira</a:t>
            </a:r>
            <a:r>
              <a:rPr lang="es-US" dirty="0" smtClean="0"/>
              <a:t>.</a:t>
            </a:r>
            <a:endParaRPr lang="es-US" dirty="0"/>
          </a:p>
          <a:p>
            <a:pPr marL="0" indent="0" algn="just">
              <a:buNone/>
            </a:pPr>
            <a:endParaRPr lang="es-US" dirty="0"/>
          </a:p>
          <a:p>
            <a:pPr marL="0" indent="0" algn="just">
              <a:buNone/>
            </a:pPr>
            <a:endParaRPr lang="es-US" dirty="0"/>
          </a:p>
          <a:p>
            <a:pPr marL="0" indent="0" algn="just">
              <a:buNone/>
            </a:pPr>
            <a:endParaRPr lang="es-US" dirty="0"/>
          </a:p>
          <a:p>
            <a:pPr marL="0" indent="0" algn="just">
              <a:buNone/>
            </a:pPr>
            <a:endParaRPr lang="es-US" dirty="0"/>
          </a:p>
          <a:p>
            <a:pPr marL="0" indent="0" algn="just">
              <a:buNone/>
            </a:pP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562558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9C10E-0256-F175-A2E0-B639AEA80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/>
              <a:t>MÓDULO 3: MATRIZ INTEGRADORA DE LECCIONES APRENDIDAS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245531-AC43-0FFD-0E6C-0E914D035B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3730" y="1935921"/>
            <a:ext cx="10363826" cy="3424107"/>
          </a:xfrm>
        </p:spPr>
        <p:txBody>
          <a:bodyPr/>
          <a:lstStyle/>
          <a:p>
            <a:pPr marL="0" indent="0" algn="just">
              <a:buNone/>
            </a:pPr>
            <a:r>
              <a:rPr lang="es-US" dirty="0"/>
              <a:t>Complete los espacios en blanco del registro de lecciones aprendidas correspondientes al portafolio de proyectos de TI desarrollados durante el ciclo 2026:  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E990F6B-06A2-7F44-423B-68EBED11F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650" y="2886364"/>
            <a:ext cx="8143986" cy="379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36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434C1-A341-69C0-BFB6-202F309EA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US" dirty="0"/>
              <a:t>MÓDULO 4: REDACCIÓN DE DOCUMENTACIÓN FINAL Y ACTA DE CIERRE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FF253D-9AB9-C75A-BAE2-F74C3C353C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95" y="1860868"/>
            <a:ext cx="10363826" cy="3424107"/>
          </a:xfrm>
        </p:spPr>
        <p:txBody>
          <a:bodyPr/>
          <a:lstStyle/>
          <a:p>
            <a:pPr marL="0" indent="0" algn="just">
              <a:buNone/>
            </a:pPr>
            <a:r>
              <a:rPr lang="es-US" b="1" dirty="0">
                <a:solidFill>
                  <a:srgbClr val="00B0F0"/>
                </a:solidFill>
              </a:rPr>
              <a:t>Ejercicio de Redacción: </a:t>
            </a:r>
            <a:r>
              <a:rPr lang="es-US" dirty="0"/>
              <a:t>Utilizando los datos de la ficha de Levantamiento Inicial (FLIP) del sistema SIGHECD (PRJ-SIGHECD-2026-02), elabore el borrador del Acta de Cierre y Aceptación Final considerando los siguientes datos: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Gerente de Proyecto: </a:t>
            </a:r>
            <a:r>
              <a:rPr lang="es-US" dirty="0" err="1"/>
              <a:t>Angel</a:t>
            </a:r>
            <a:r>
              <a:rPr lang="es-US" dirty="0"/>
              <a:t> De </a:t>
            </a:r>
            <a:r>
              <a:rPr lang="es-US" dirty="0" err="1"/>
              <a:t>Jesus</a:t>
            </a:r>
            <a:r>
              <a:rPr lang="es-US" dirty="0"/>
              <a:t> Mazariegos Ortiz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Patrocinador: </a:t>
            </a:r>
            <a:r>
              <a:rPr lang="es-US" dirty="0"/>
              <a:t>Francisco Javier Velázquez Mingo   </a:t>
            </a:r>
          </a:p>
          <a:p>
            <a:pPr algn="just"/>
            <a:r>
              <a:rPr lang="es-US" b="1" dirty="0">
                <a:solidFill>
                  <a:srgbClr val="FF0000"/>
                </a:solidFill>
              </a:rPr>
              <a:t>Entregables: </a:t>
            </a:r>
            <a:r>
              <a:rPr lang="es-US" dirty="0" err="1"/>
              <a:t>Backend</a:t>
            </a:r>
            <a:r>
              <a:rPr lang="es-US" dirty="0"/>
              <a:t> de </a:t>
            </a:r>
            <a:r>
              <a:rPr lang="es-US" dirty="0" err="1"/>
              <a:t>Microservicios</a:t>
            </a:r>
            <a:r>
              <a:rPr lang="es-US" dirty="0"/>
              <a:t> (Java y </a:t>
            </a:r>
            <a:r>
              <a:rPr lang="es-US" dirty="0" err="1"/>
              <a:t>NestJS</a:t>
            </a:r>
            <a:r>
              <a:rPr lang="es-US" dirty="0"/>
              <a:t>), Módulo de Expediente Clínico HL7/FHIR, Citas y Farmacia, Encriptación AES-256 y OAuth2, WT.   </a:t>
            </a:r>
          </a:p>
        </p:txBody>
      </p:sp>
    </p:spTree>
    <p:extLst>
      <p:ext uri="{BB962C8B-B14F-4D97-AF65-F5344CB8AC3E}">
        <p14:creationId xmlns:p14="http://schemas.microsoft.com/office/powerpoint/2010/main" val="3870238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849D9-D859-99A5-CA8F-75528305E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87" y="0"/>
            <a:ext cx="11278226" cy="1326321"/>
          </a:xfrm>
        </p:spPr>
        <p:txBody>
          <a:bodyPr/>
          <a:lstStyle/>
          <a:p>
            <a:r>
              <a:rPr lang="es-US" dirty="0"/>
              <a:t>Solución Ejercicio 4 (Borrador de Acta):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08158B-DD0F-0738-340C-B9E3ACAF89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6887" y="1326321"/>
            <a:ext cx="11278226" cy="3424107"/>
          </a:xfrm>
        </p:spPr>
        <p:txBody>
          <a:bodyPr/>
          <a:lstStyle/>
          <a:p>
            <a:pPr marL="0" indent="0" algn="just">
              <a:buNone/>
            </a:pPr>
            <a:r>
              <a:rPr lang="es-US" dirty="0"/>
              <a:t>El gráfico recrea el acta oficial para el proyecto SIGHECD (PRJ-SIGHECD-2026-02), organizado por secciones, casillas de verificación de entregables, métricas de éxito y bloques de firma: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3195D6D-39FD-B24A-244F-EA1425521B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892" b="5466"/>
          <a:stretch>
            <a:fillRect/>
          </a:stretch>
        </p:blipFill>
        <p:spPr>
          <a:xfrm>
            <a:off x="3353510" y="2294032"/>
            <a:ext cx="5484979" cy="266163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623E677-71A4-C9AB-7C40-58AD326A08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59" b="7177"/>
          <a:stretch>
            <a:fillRect/>
          </a:stretch>
        </p:blipFill>
        <p:spPr>
          <a:xfrm>
            <a:off x="3353509" y="3854406"/>
            <a:ext cx="5484979" cy="280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53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D9536-2373-4716-A85D-A9802C1E1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-222580"/>
            <a:ext cx="8610600" cy="1293028"/>
          </a:xfrm>
        </p:spPr>
        <p:txBody>
          <a:bodyPr/>
          <a:lstStyle/>
          <a:p>
            <a:pPr algn="ctr"/>
            <a:r>
              <a:rPr lang="es-MX" b="1" dirty="0"/>
              <a:t>Conclusión</a:t>
            </a:r>
            <a:r>
              <a:rPr lang="es-MX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68DE2A-CAFB-400E-89FD-3E49FD7B34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13763" y="1070448"/>
            <a:ext cx="10363826" cy="632335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US" dirty="0"/>
              <a:t>Como conclusión puedo decir sobre ​el análisis, desarrollo y cierre documentado de los proyectos evaluados demuestran que el éxito en la ingeniería y gestión de software no depende únicamente del cumplimiento técnico de los entregables, sino de un control riguroso del alcance, el costo y el tiempo. La correcta aplicación de mecanismos formales tales como la intervención del Comité de Control de Cambios (CCB) en LOGIX-TRACE, la validación técnica rigurosa mediante pruebas de carga en OAS y el cumplimiento estricto de estándares de ciberseguridad en SIGHECD asegura la entrega de sistemas alineados a las expectativas del negocio. La formalización del cierre mediante el Acta de Aceptación Final (</a:t>
            </a:r>
            <a:r>
              <a:rPr lang="es-US" dirty="0" err="1"/>
              <a:t>Sign</a:t>
            </a:r>
            <a:r>
              <a:rPr lang="es-US" dirty="0"/>
              <a:t>-off) y el enriquecimiento de los activos de procesos (OPA) garantizan la continuidad operativa, previenen la repetición de errores y establecen un estándar de excelencia para futuros desarrollos organizacionales.</a:t>
            </a:r>
          </a:p>
        </p:txBody>
      </p:sp>
    </p:spTree>
    <p:extLst>
      <p:ext uri="{BB962C8B-B14F-4D97-AF65-F5344CB8AC3E}">
        <p14:creationId xmlns:p14="http://schemas.microsoft.com/office/powerpoint/2010/main" val="2345241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5AA06-F424-889C-8233-3A9926E4D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582957"/>
            <a:ext cx="10353761" cy="1326321"/>
          </a:xfrm>
        </p:spPr>
        <p:txBody>
          <a:bodyPr/>
          <a:lstStyle/>
          <a:p>
            <a:r>
              <a:rPr lang="es-US" dirty="0"/>
              <a:t>FUENTES DE INFORMACIÓN  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0E82C0-7E96-588D-484B-8B1730BF075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120" y="1716946"/>
            <a:ext cx="9915846" cy="4558097"/>
          </a:xfrm>
        </p:spPr>
        <p:txBody>
          <a:bodyPr>
            <a:normAutofit/>
          </a:bodyPr>
          <a:lstStyle/>
          <a:p>
            <a:r>
              <a:rPr lang="es-US" dirty="0"/>
              <a:t>Evaluación y Cierre de Proyectos | PDF | Evaluación | Aprendizaje </a:t>
            </a:r>
            <a:r>
              <a:rPr lang="es-US" dirty="0">
                <a:hlinkClick r:id="rId2"/>
              </a:rPr>
              <a:t>https://es.scribd.com/document/451591974/EVALUACION-FINAL-Y-CIERRE-DEL-PROYECTO</a:t>
            </a:r>
            <a:r>
              <a:rPr lang="es-US" dirty="0"/>
              <a:t> </a:t>
            </a:r>
          </a:p>
          <a:p>
            <a:r>
              <a:rPr lang="es-US" dirty="0"/>
              <a:t>GEP MCX Unidad 9: Cierre del Proyecto y Lecciones Aprendidas – </a:t>
            </a:r>
            <a:r>
              <a:rPr lang="es-US" dirty="0" err="1"/>
              <a:t>Studocu</a:t>
            </a:r>
            <a:r>
              <a:rPr lang="es-US" dirty="0"/>
              <a:t> </a:t>
            </a:r>
            <a:r>
              <a:rPr lang="es-US" dirty="0">
                <a:hlinkClick r:id="rId3"/>
              </a:rPr>
              <a:t>https://share.google/xMQLiaLYgeTePoKbQ</a:t>
            </a:r>
            <a:endParaRPr lang="es-US" dirty="0"/>
          </a:p>
          <a:p>
            <a:r>
              <a:rPr lang="es-US" dirty="0"/>
              <a:t>Modalidad de exámenes – Semana 6: Revisión de Resultados y Preguntas – </a:t>
            </a:r>
            <a:r>
              <a:rPr lang="es-US" dirty="0" err="1"/>
              <a:t>Studocu</a:t>
            </a:r>
            <a:r>
              <a:rPr lang="es-US" dirty="0"/>
              <a:t> </a:t>
            </a:r>
            <a:r>
              <a:rPr lang="es-US" dirty="0">
                <a:hlinkClick r:id="rId4"/>
              </a:rPr>
              <a:t>https://share.google/YpgqCzpfjteQPsXoA</a:t>
            </a:r>
            <a:r>
              <a:rPr lang="es-US" dirty="0"/>
              <a:t> </a:t>
            </a:r>
          </a:p>
          <a:p>
            <a:r>
              <a:rPr lang="es-US" dirty="0"/>
              <a:t>(PDF) Gestión de Proyectos de TI </a:t>
            </a:r>
            <a:r>
              <a:rPr lang="es-US" dirty="0">
                <a:hlinkClick r:id="rId5"/>
              </a:rPr>
              <a:t>https://share.google/yuOYzucF6sngypEqR</a:t>
            </a:r>
            <a:r>
              <a:rPr lang="es-US" dirty="0"/>
              <a:t> </a:t>
            </a:r>
          </a:p>
          <a:p>
            <a:r>
              <a:rPr lang="es-US" dirty="0"/>
              <a:t>Guía para el Cierre de Proyectos: Pasos + Lista de Verificación </a:t>
            </a:r>
            <a:r>
              <a:rPr lang="es-US" dirty="0">
                <a:hlinkClick r:id="rId6"/>
              </a:rPr>
              <a:t>https://share.google/UpLAHguKbUmQ1t7Rj</a:t>
            </a:r>
            <a:r>
              <a:rPr lang="es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9409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6451CC-D717-189A-1F38-FC629C26AA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472978"/>
            <a:ext cx="10363826" cy="3424107"/>
          </a:xfrm>
        </p:spPr>
        <p:txBody>
          <a:bodyPr/>
          <a:lstStyle/>
          <a:p>
            <a:pPr marL="0" indent="0">
              <a:buNone/>
            </a:pPr>
            <a:r>
              <a:rPr lang="es-MX" dirty="0" err="1"/>
              <a:t>Linl</a:t>
            </a:r>
            <a:r>
              <a:rPr lang="es-MX" dirty="0"/>
              <a:t> de </a:t>
            </a:r>
            <a:r>
              <a:rPr lang="es-MX" dirty="0" err="1"/>
              <a:t>github</a:t>
            </a:r>
            <a:r>
              <a:rPr lang="es-MX" dirty="0"/>
              <a:t>: </a:t>
            </a:r>
            <a:r>
              <a:rPr lang="es-MX" dirty="0">
                <a:hlinkClick r:id="rId2"/>
              </a:rPr>
              <a:t>https://github.com/Angel-ortiz144/GPTI--Tema-4.git</a:t>
            </a:r>
            <a:r>
              <a:rPr lang="es-MX" dirty="0"/>
              <a:t>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977197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840</TotalTime>
  <Words>1629</Words>
  <Application>Microsoft Office PowerPoint</Application>
  <PresentationFormat>Panorámica</PresentationFormat>
  <Paragraphs>110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Bookman Old Style</vt:lpstr>
      <vt:lpstr>Rockwell</vt:lpstr>
      <vt:lpstr>Damask</vt:lpstr>
      <vt:lpstr>Instituto tecnológico de nacional de México  (instituto tecnológico de frontera Comalapa) </vt:lpstr>
      <vt:lpstr>Introducción </vt:lpstr>
      <vt:lpstr>JUSTIFICACIÓN</vt:lpstr>
      <vt:lpstr>MÓDULO 1: PREGUNTAS DE OPCIÓN MÚLTIPLE (TEORÍA Y CONCEPTOS)</vt:lpstr>
      <vt:lpstr>Presentación de PowerPoint</vt:lpstr>
      <vt:lpstr>Presentación de PowerPoint</vt:lpstr>
      <vt:lpstr>Presentación de PowerPoint</vt:lpstr>
      <vt:lpstr>Presentación de PowerPoint</vt:lpstr>
      <vt:lpstr>MÓDULO 2: CASOS PRÁCTICOS DE ANÁLISIS Y DICTAMEN</vt:lpstr>
      <vt:lpstr>Solución Ejercicio</vt:lpstr>
      <vt:lpstr>Presentación de PowerPoint</vt:lpstr>
      <vt:lpstr>MÓDULO 3: MATRIZ INTEGRADORA DE LECCIONES APRENDIDAS</vt:lpstr>
      <vt:lpstr>MÓDULO 4: REDACCIÓN DE DOCUMENTACIÓN FINAL Y ACTA DE CIERRE</vt:lpstr>
      <vt:lpstr>Solución Ejercicio 4 (Borrador de Acta):</vt:lpstr>
      <vt:lpstr>Conclusión </vt:lpstr>
      <vt:lpstr>FUENTES DE INFORMACIÓN  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tecnológico de frontera Comalapa</dc:title>
  <dc:creator>WER-PCPLUS</dc:creator>
  <cp:lastModifiedBy>WER-PCPLUS</cp:lastModifiedBy>
  <cp:revision>191</cp:revision>
  <dcterms:created xsi:type="dcterms:W3CDTF">2024-03-08T16:42:11Z</dcterms:created>
  <dcterms:modified xsi:type="dcterms:W3CDTF">2026-09-30T19:50:35Z</dcterms:modified>
</cp:coreProperties>
</file>